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reframed UC3 as a market intelligence challenge: help Mirakl detect talent pools and competitor hiring intent before the market becomes obvious.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system does not replace recruiters. It gives them better targets, better timing, and better messaging.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MVP is intentionally simple: n8n orchestrates workflows, Google Sheets stores data, OpenAI performs reasoning.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user does not configure a complex tool. They ask a real TA question.</a:t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value is not the data itself. The value is interpretation: what does this signal mean for Mirakl hiring?</a:t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where the system moves from sourcing lists to strategic sourcing priorities.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not claiming full automation. We generate high-quality recruiter inputs that remain human-validated.</a:t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second required UC3 output: strategic competitor intelligence.</a:t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product is human-in-the-loop by design. It enhances TA judgment without replacing it.</a:t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chose credibility over fragile scraping. The intelligence layer is functional and ready to connect to approved data sources.</a:t>
            </a:r>
            <a:endParaRPr/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biggest cost is not infrastructure. It is data enrichment volume and frequency.</a:t>
            </a:r>
            <a:endParaRPr/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result is a practical TA operating system: sourcing execution today, competitor foresight for tomorrow.</a:t>
            </a:r>
            <a:endParaRPr/>
          </a:p>
        </p:txBody>
      </p:sp>
      <p:sp>
        <p:nvSpPr>
          <p:cNvPr id="290" name="Google Shape;2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11" Type="http://schemas.openxmlformats.org/officeDocument/2006/relationships/image" Target="../media/image19.png"/><Relationship Id="rId10" Type="http://schemas.openxmlformats.org/officeDocument/2006/relationships/image" Target="../media/image10.png"/><Relationship Id="rId9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7.png"/><Relationship Id="rId7" Type="http://schemas.openxmlformats.org/officeDocument/2006/relationships/image" Target="../media/image43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12.png"/><Relationship Id="rId6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45.png"/><Relationship Id="rId5" Type="http://schemas.openxmlformats.org/officeDocument/2006/relationships/image" Target="../media/image4.png"/><Relationship Id="rId6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182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365760"/>
            <a:ext cx="502920" cy="365760"/>
          </a:xfrm>
          <a:prstGeom prst="roundRect">
            <a:avLst>
              <a:gd fmla="val 12500" name="adj"/>
            </a:avLst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36576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48650" y="1823298"/>
            <a:ext cx="77724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HACKATHON MIRAKL - UC 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50" y="2194550"/>
            <a:ext cx="75804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Rare AI talent is invisible through classic search. The signals exist — they're just not actionable yet.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50" y="4206250"/>
            <a:ext cx="75804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LAURENT Louis, LESCURE Quentin, LIMEM Achraf, METCHAT Chahine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Our thesis: find talent environments before individual profiles.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0972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801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1143000" y="126187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Signal-first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31520" y="1627632"/>
            <a:ext cx="2240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Start from companies, teams, and market signals — not LinkedIn keywords.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337560" y="10972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12801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3931920" y="126187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Infer talent density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520440" y="1627632"/>
            <a:ext cx="2240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Infer talent concentration and latent seniority from public signals.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126480" y="10972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2801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6720840" y="126187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Recruiter-ready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309360" y="1627632"/>
            <a:ext cx="2240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Generate recommendations, not raw data. Keep humans in control.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764FF"/>
                </a:solidFill>
                <a:latin typeface="Calibri"/>
                <a:ea typeface="Calibri"/>
                <a:cs typeface="Calibri"/>
                <a:sym typeface="Calibri"/>
              </a:rPr>
              <a:t>Human-in-the-loop by design — the system enhances TA judgment without replacing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51" y="274325"/>
            <a:ext cx="8299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From public signals to sourcing &amp; strategic intelligence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71500" y="1280160"/>
            <a:ext cx="1417320" cy="1097280"/>
          </a:xfrm>
          <a:prstGeom prst="roundRect">
            <a:avLst>
              <a:gd fmla="val 6667" name="adj"/>
            </a:avLst>
          </a:prstGeom>
          <a:solidFill>
            <a:srgbClr val="2764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4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57150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 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7108" y="1645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2217420" y="1280160"/>
            <a:ext cx="14173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606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221742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Market Signals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3028" y="1645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3863340" y="1280160"/>
            <a:ext cx="14173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198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386334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Talent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Scoring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8948" y="1645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5509260" y="1280160"/>
            <a:ext cx="14173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5790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550926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Candidate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4868" y="1645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7155180" y="1280160"/>
            <a:ext cx="141732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0382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15518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Competitor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Brief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48640" y="2834640"/>
            <a:ext cx="260604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5800" y="29992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105156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n8n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51560" y="32461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337560" y="2834640"/>
            <a:ext cx="260604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74720" y="29992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384048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Google Sheets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840480" y="32461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MVP storage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126480" y="2834640"/>
            <a:ext cx="260604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63640" y="29992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662940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OpenAI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629400" y="32461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Reasoning &amp; classification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Step 1 — Start from a recruiter question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1471705"/>
            <a:ext cx="8046600" cy="11886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77240" y="156314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77240" y="1837465"/>
            <a:ext cx="758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600"/>
              <a:buFont typeface="Georgia"/>
              <a:buNone/>
            </a:pPr>
            <a:r>
              <a:rPr b="1" i="1" lang="en-US" sz="16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"Find Senior AI Engineers in France for Mirakl"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77240" y="2248945"/>
            <a:ext cx="758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Scope: France · Paris / Bordeaux / Remote  |  Domain: AI, ML, LLM, RAG, Production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48640" y="2980465"/>
            <a:ext cx="26061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163345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1143000" y="3145057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Query Expansion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31520" y="3510817"/>
            <a:ext cx="224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The system expands the query into equivalent profiles and target environments.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337560" y="2980465"/>
            <a:ext cx="26061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3163345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3931920" y="3145057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Downstream Driver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520440" y="3510817"/>
            <a:ext cx="224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This single input drives all downstream signal collection and scoring.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126480" y="2980465"/>
            <a:ext cx="26061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3163345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6720840" y="3145057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Natural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309360" y="3510817"/>
            <a:ext cx="224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Recruiters ask a real question — no complex tool configuration required.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48651" y="274325"/>
            <a:ext cx="79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Step 2 — Capture and classify public market signals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7" y="1067839"/>
            <a:ext cx="2818800" cy="907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72003" rotWithShape="0" algn="bl" dir="8100000" dist="18001">
              <a:srgbClr val="000000">
                <a:alpha val="10196"/>
              </a:srgbClr>
            </a:outerShdw>
          </a:effectLst>
        </p:spPr>
        <p:txBody>
          <a:bodyPr anchorCtr="0" anchor="ctr" bIns="64800" lIns="64800" spcFirstLastPara="1" rIns="64800" wrap="square" tIns="6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252" y="1197444"/>
            <a:ext cx="207367" cy="20736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969862" y="1184483"/>
            <a:ext cx="2235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850"/>
              <a:buFont typeface="Georgia"/>
              <a:buNone/>
            </a:pPr>
            <a:r>
              <a:rPr b="1" i="0" lang="en-US" sz="8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Signal Types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78252" y="1443693"/>
            <a:ext cx="2559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44"/>
              <a:buFont typeface="Calibri"/>
              <a:buNone/>
            </a:pPr>
            <a:r>
              <a:rPr b="0" i="0" lang="en-US" sz="744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Job posts, product news, engineering blog content, GitHub-style signals.</a:t>
            </a:r>
            <a:endParaRPr b="0" i="0" sz="7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9" y="3127101"/>
            <a:ext cx="2818800" cy="907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72003" rotWithShape="0" algn="bl" dir="8100000" dist="18001">
              <a:srgbClr val="000000">
                <a:alpha val="10196"/>
              </a:srgbClr>
            </a:outerShdw>
          </a:effectLst>
        </p:spPr>
        <p:txBody>
          <a:bodyPr anchorCtr="0" anchor="ctr" bIns="64800" lIns="64800" spcFirstLastPara="1" rIns="64800" wrap="square" tIns="6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254" y="3256706"/>
            <a:ext cx="207367" cy="207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969864" y="3243746"/>
            <a:ext cx="2235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850"/>
              <a:buFont typeface="Georgia"/>
              <a:buNone/>
            </a:pPr>
            <a:r>
              <a:rPr b="1" i="0" lang="en-US" sz="8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AI Interpretation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8254" y="3502956"/>
            <a:ext cx="2559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44"/>
              <a:buFont typeface="Calibri"/>
              <a:buNone/>
            </a:pPr>
            <a:r>
              <a:rPr b="0" i="0" lang="en-US" sz="744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Each signal classified by type, relevance, confidence, and recommended TA action.</a:t>
            </a:r>
            <a:endParaRPr b="0" i="0" sz="7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48647" y="2104679"/>
            <a:ext cx="2818800" cy="907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72003" rotWithShape="0" algn="bl" dir="8100000" dist="18001">
              <a:srgbClr val="000000">
                <a:alpha val="10196"/>
              </a:srgbClr>
            </a:outerShdw>
          </a:effectLst>
        </p:spPr>
        <p:txBody>
          <a:bodyPr anchorCtr="0" anchor="ctr" bIns="64800" lIns="64800" spcFirstLastPara="1" rIns="64800" wrap="square" tIns="6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252" y="2234284"/>
            <a:ext cx="207367" cy="207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969862" y="2221323"/>
            <a:ext cx="2235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850"/>
              <a:buFont typeface="Georgia"/>
              <a:buNone/>
            </a:pPr>
            <a:r>
              <a:rPr b="1" i="0" lang="en-US" sz="8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Action Labels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78252" y="2480533"/>
            <a:ext cx="2559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44"/>
              <a:buFont typeface="Calibri"/>
              <a:buNone/>
            </a:pPr>
            <a:r>
              <a:rPr b="0" i="0" lang="en-US" sz="744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Act now · Watch · Ignore — so recruiters know what to prioritize instantly.</a:t>
            </a:r>
            <a:endParaRPr b="0" i="0" sz="7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48649" y="4163941"/>
            <a:ext cx="2818800" cy="907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72003" rotWithShape="0" algn="bl" dir="8100000" dist="18001">
              <a:srgbClr val="000000">
                <a:alpha val="10196"/>
              </a:srgbClr>
            </a:outerShdw>
          </a:effectLst>
        </p:spPr>
        <p:txBody>
          <a:bodyPr anchorCtr="0" anchor="ctr" bIns="64800" lIns="64800" spcFirstLastPara="1" rIns="64800" wrap="square" tIns="6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254" y="4293546"/>
            <a:ext cx="207367" cy="207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969864" y="4280586"/>
            <a:ext cx="2235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850"/>
              <a:buFont typeface="Georgia"/>
              <a:buNone/>
            </a:pPr>
            <a:r>
              <a:rPr b="1" i="0" lang="en-US" sz="8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Intelligence Layer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78254" y="4539796"/>
            <a:ext cx="2559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744"/>
              <a:buFont typeface="Calibri"/>
              <a:buNone/>
            </a:pPr>
            <a:r>
              <a:rPr b="0" i="0" lang="en-US" sz="744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Creates the raw intelligence layer that feeds talent pool scoring downstream.</a:t>
            </a:r>
            <a:endParaRPr b="0" i="0" sz="7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9722" y="2755675"/>
            <a:ext cx="5471753" cy="2034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29725" y="1255052"/>
            <a:ext cx="5471751" cy="126565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3529725" y="9853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/>
              <a:t>workflow_1_collect_signals</a:t>
            </a:r>
            <a:endParaRPr i="1" sz="1100"/>
          </a:p>
        </p:txBody>
      </p:sp>
      <p:sp>
        <p:nvSpPr>
          <p:cNvPr id="133" name="Google Shape;133;p7"/>
          <p:cNvSpPr txBox="1"/>
          <p:nvPr/>
        </p:nvSpPr>
        <p:spPr>
          <a:xfrm>
            <a:off x="3529725" y="2494418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/>
              <a:t>workflow_2_talent_intelligence</a:t>
            </a:r>
            <a:endParaRPr i="1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Step 3 — Rank companies as talent pools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8640" y="1097280"/>
            <a:ext cx="1508700" cy="502800"/>
          </a:xfrm>
          <a:prstGeom prst="roundRect">
            <a:avLst>
              <a:gd fmla="val 16667" name="adj"/>
            </a:avLst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48640" y="1097280"/>
            <a:ext cx="1508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Talent density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212848" y="1097280"/>
            <a:ext cx="1508700" cy="502800"/>
          </a:xfrm>
          <a:prstGeom prst="roundRect">
            <a:avLst>
              <a:gd fmla="val 16667" name="adj"/>
            </a:avLst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2212848" y="1097280"/>
            <a:ext cx="1508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France relevance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877056" y="1097280"/>
            <a:ext cx="1508700" cy="502800"/>
          </a:xfrm>
          <a:prstGeom prst="roundRect">
            <a:avLst>
              <a:gd fmla="val 16667" name="adj"/>
            </a:avLst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3877056" y="1097280"/>
            <a:ext cx="1508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Signal strength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541264" y="1097280"/>
            <a:ext cx="1508700" cy="502800"/>
          </a:xfrm>
          <a:prstGeom prst="roundRect">
            <a:avLst>
              <a:gd fmla="val 16667" name="adj"/>
            </a:avLst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541264" y="1097280"/>
            <a:ext cx="1508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205472" y="1097280"/>
            <a:ext cx="1508700" cy="502800"/>
          </a:xfrm>
          <a:prstGeom prst="roundRect">
            <a:avLst>
              <a:gd fmla="val 16667" name="adj"/>
            </a:avLst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7205472" y="1097280"/>
            <a:ext cx="1508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Mirakl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2111020"/>
            <a:ext cx="80466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777240" y="220246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PRIORITIZED TALENT POOLS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77240" y="2522500"/>
            <a:ext cx="1417200" cy="384000"/>
          </a:xfrm>
          <a:prstGeom prst="roundRect">
            <a:avLst>
              <a:gd fmla="val 11905" name="adj"/>
            </a:avLst>
          </a:prstGeom>
          <a:solidFill>
            <a:srgbClr val="F2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777240" y="2522500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Dataiku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2350008" y="2522500"/>
            <a:ext cx="1417200" cy="384000"/>
          </a:xfrm>
          <a:prstGeom prst="roundRect">
            <a:avLst>
              <a:gd fmla="val 11905" name="adj"/>
            </a:avLst>
          </a:prstGeom>
          <a:solidFill>
            <a:srgbClr val="F2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2350008" y="2522500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Dust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922776" y="2522500"/>
            <a:ext cx="1417200" cy="384000"/>
          </a:xfrm>
          <a:prstGeom prst="roundRect">
            <a:avLst>
              <a:gd fmla="val 11905" name="adj"/>
            </a:avLst>
          </a:prstGeom>
          <a:solidFill>
            <a:srgbClr val="F2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922776" y="2522500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Criteo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495544" y="2522500"/>
            <a:ext cx="1417200" cy="384000"/>
          </a:xfrm>
          <a:prstGeom prst="roundRect">
            <a:avLst>
              <a:gd fmla="val 11905" name="adj"/>
            </a:avLst>
          </a:prstGeom>
          <a:solidFill>
            <a:srgbClr val="F2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495544" y="2522500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Contentsquare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068312" y="2522500"/>
            <a:ext cx="1417200" cy="384000"/>
          </a:xfrm>
          <a:prstGeom prst="roundRect">
            <a:avLst>
              <a:gd fmla="val 11905" name="adj"/>
            </a:avLst>
          </a:prstGeom>
          <a:solidFill>
            <a:srgbClr val="F2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068312" y="2522500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Doctolib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48640" y="3299740"/>
            <a:ext cx="3977700" cy="11886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4826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1143000" y="346433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Smart Separation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31520" y="3830092"/>
            <a:ext cx="361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Separates 'interesting company' from 'actionable sourcing opportunity.'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709160" y="3299740"/>
            <a:ext cx="3977700" cy="11886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34826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5303520" y="346433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Sourcing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892040" y="3830092"/>
            <a:ext cx="361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Each company receives a recommended action. Recruiters know where to search first.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48651" y="274325"/>
            <a:ext cx="813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Step 4 — Generate recruiter-ready candidate intelligence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48640" y="1402730"/>
            <a:ext cx="39777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8561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1143000" y="156732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Lead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31520" y="1933082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LinkedIn URL, company, title, fit score, and confidence level.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709160" y="1402730"/>
            <a:ext cx="39777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58561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5303520" y="156732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Why Detected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892040" y="1933082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Each lead includes reasoning and a personalized outreach angle.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48640" y="2820050"/>
            <a:ext cx="39777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00293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1143000" y="298464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Latent Seniority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31520" y="3350402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Detects seniority from tenure, stale profiles, and strong company context.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709160" y="2820050"/>
            <a:ext cx="39777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00293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5303520" y="298464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Outreach Draft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892040" y="3350402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Recruiters get a first message draft, marked for manual validation.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Step 5 — Detect competitor hiring intent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48640" y="1491455"/>
            <a:ext cx="3840600" cy="25602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77240" y="1582895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COMPETITOR EXAMPLE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77240" y="1857215"/>
            <a:ext cx="338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Dataiku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40585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1097280" y="2405855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Key signals summarized &amp; talent strategy interpreted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7258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1097280" y="2725895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Predicted next hiring moves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04593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1097280" y="3045935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Concrete recommended actions for Mirakl 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754880" y="1491455"/>
            <a:ext cx="3840600" cy="2560200"/>
          </a:xfrm>
          <a:prstGeom prst="roundRect">
            <a:avLst>
              <a:gd fmla="val 2857" name="adj"/>
            </a:avLst>
          </a:prstGeom>
          <a:solidFill>
            <a:srgbClr val="031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176577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5029200" y="2222975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Strategic Radar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029200" y="2634455"/>
            <a:ext cx="3291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This turns Talent Acquisition into a strategic radar — not only a sourcing function.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Agent accelerates judgment. Human owns the relationship.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48640" y="1402730"/>
            <a:ext cx="3840600" cy="27432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53989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/>
          <p:nvPr/>
        </p:nvSpPr>
        <p:spPr>
          <a:xfrm>
            <a:off x="1188720" y="153989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Agent does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77240" y="2042810"/>
            <a:ext cx="3383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Collects and classifies market signals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Scores talent pools by relevance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Infers latent seniority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Drafts outreach angles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Generates competitor intelligence briefs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754880" y="1402730"/>
            <a:ext cx="3840600" cy="27432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53989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1"/>
          <p:cNvSpPr/>
          <p:nvPr/>
        </p:nvSpPr>
        <p:spPr>
          <a:xfrm>
            <a:off x="5394960" y="153989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Human owns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983480" y="2042810"/>
            <a:ext cx="3383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Validates identity and relevance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Ensures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Decides timing and messaging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Owns the relationship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Final outreach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MVP limits are clear — and productizable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548640" y="1225380"/>
            <a:ext cx="39777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082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1143000" y="138997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Demo-seeded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731520" y="1755732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Candidate data must be validated before real outreach.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709160" y="1225380"/>
            <a:ext cx="39777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4082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/>
          <p:nvPr/>
        </p:nvSpPr>
        <p:spPr>
          <a:xfrm>
            <a:off x="5303520" y="138997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No direct LinkedIn scraping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892040" y="1755732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Compliance-first: no scraping for legal and ethical reasons.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48640" y="2642700"/>
            <a:ext cx="39777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28255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/>
          <p:nvPr/>
        </p:nvSpPr>
        <p:spPr>
          <a:xfrm>
            <a:off x="1143000" y="280729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Signal gaps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731520" y="3173052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Public signals can be incomplete, stale, or ambiguous.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4709160" y="2642700"/>
            <a:ext cx="39777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28255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/>
          <p:nvPr/>
        </p:nvSpPr>
        <p:spPr>
          <a:xfrm>
            <a:off x="5303520" y="2807292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Confidence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4892040" y="3173052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Reduces overclaiming but does not remove uncertainty.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48640" y="4060020"/>
            <a:ext cx="8046600" cy="502800"/>
          </a:xfrm>
          <a:prstGeom prst="roundRect">
            <a:avLst>
              <a:gd fmla="val 9091" name="adj"/>
            </a:avLst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548640" y="4060020"/>
            <a:ext cx="80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Next: connect ATS, Talent CRM, LinkedIn Recruiter export, compliant providers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8229600" y="1828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FinOps: lightweight MVP, scalable by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48640" y="1402730"/>
            <a:ext cx="2606100" cy="10974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8561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1143000" y="1567322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n8n Orchestration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731520" y="1933082"/>
            <a:ext cx="224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Low fixed cost or self-hosted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337560" y="1402730"/>
            <a:ext cx="2606100" cy="10974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158561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3931920" y="1567322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Google Sheets / Airtable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3520440" y="1933082"/>
            <a:ext cx="224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Negligible MVP cost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126480" y="1402730"/>
            <a:ext cx="2606100" cy="10974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58561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3"/>
          <p:cNvSpPr/>
          <p:nvPr/>
        </p:nvSpPr>
        <p:spPr>
          <a:xfrm>
            <a:off x="6720840" y="1567322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OpenAI Usage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309360" y="1933082"/>
            <a:ext cx="224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Classification &amp; generation calls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2774330"/>
            <a:ext cx="3840600" cy="1280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777240" y="286577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MVP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777240" y="3140090"/>
            <a:ext cx="338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€20 – €100/mo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77240" y="355157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Weekly runs, single role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754880" y="2774330"/>
            <a:ext cx="3840600" cy="1280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4983480" y="286577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2764FF"/>
                </a:solidFill>
                <a:latin typeface="Georgia"/>
                <a:ea typeface="Georgia"/>
                <a:cs typeface="Georgia"/>
                <a:sym typeface="Georgia"/>
              </a:rPr>
              <a:t>PILOT SCALE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983480" y="3140090"/>
            <a:ext cx="338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182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3182F"/>
                </a:solidFill>
                <a:latin typeface="Georgia"/>
                <a:ea typeface="Georgia"/>
                <a:cs typeface="Georgia"/>
                <a:sym typeface="Georgia"/>
              </a:rPr>
              <a:t>€150 – €500/mo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983480" y="355157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Multi-role, multi-company, higher refresh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182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/>
          <p:nvPr/>
        </p:nvSpPr>
        <p:spPr>
          <a:xfrm>
            <a:off x="548640" y="365760"/>
            <a:ext cx="502920" cy="365760"/>
          </a:xfrm>
          <a:prstGeom prst="roundRect">
            <a:avLst>
              <a:gd fmla="val 12500" name="adj"/>
            </a:avLst>
          </a:prstGeom>
          <a:solidFill>
            <a:srgbClr val="276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548640" y="36576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192025" y="492550"/>
            <a:ext cx="685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Concrete value for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Mirakl Talent Acquisition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290" y="17931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/>
          <p:nvPr/>
        </p:nvSpPr>
        <p:spPr>
          <a:xfrm>
            <a:off x="1061770" y="179310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Build a France AI talent map for priority roles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290" y="23234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/>
          <p:nvPr/>
        </p:nvSpPr>
        <p:spPr>
          <a:xfrm>
            <a:off x="1061770" y="23234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Monitor competitors: Dataiku, Dust, Criteo, Contentsquare, Doctolib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290" y="28538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4"/>
          <p:cNvSpPr/>
          <p:nvPr/>
        </p:nvSpPr>
        <p:spPr>
          <a:xfrm>
            <a:off x="1061770" y="285380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Generate recruiter-ready shortlists with outreach angles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290" y="33841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4"/>
          <p:cNvSpPr/>
          <p:nvPr/>
        </p:nvSpPr>
        <p:spPr>
          <a:xfrm>
            <a:off x="1061770" y="3384156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Detect under-visible senior profiles earlier than classic sourcing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290" y="39145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/>
          <p:nvPr/>
        </p:nvSpPr>
        <p:spPr>
          <a:xfrm>
            <a:off x="1061770" y="39145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Turn public market signals into weekly TA intelligence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50290" y="430770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4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764FF"/>
                </a:solidFill>
                <a:latin typeface="Calibri"/>
                <a:ea typeface="Calibri"/>
                <a:cs typeface="Calibri"/>
                <a:sym typeface="Calibri"/>
              </a:rPr>
              <a:t>A practical TA operating system: sourcing today, competitor foresight for tomorrow.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